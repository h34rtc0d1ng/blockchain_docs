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Poppins" charset="1" panose="00000500000000000000"/>
      <p:regular r:id="rId15"/>
    </p:embeddedFont>
    <p:embeddedFont>
      <p:font typeface="Poppins Bold" charset="1" panose="00000800000000000000"/>
      <p:regular r:id="rId16"/>
    </p:embeddedFont>
    <p:embeddedFont>
      <p:font typeface="Norwester" charset="1" panose="00000506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 El Dolor o Need (Problemática) (IE3) </a:t>
            </a:r>
          </a:p>
          <a:p>
            <a:r>
              <a:rPr lang="en-US"/>
              <a:t/>
            </a:r>
          </a:p>
          <a:p>
            <a:r>
              <a:rPr lang="en-US"/>
              <a:t>a.  Mostrar visualmente el problema de la falsificación y la pérdida de dinero/confianza. </a:t>
            </a:r>
          </a:p>
          <a:p>
            <a:r>
              <a:rPr lang="en-US"/>
              <a:t/>
            </a:r>
          </a:p>
          <a:p>
            <a:r>
              <a:rPr lang="en-US"/>
              <a:t>b. Expone la crisis de confianza identificada en el contexto del “Need” del pitch.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  El Dolor o Need (Problemática) (IE3) </a:t>
            </a:r>
          </a:p>
          <a:p>
            <a:r>
              <a:rPr lang="en-US"/>
              <a:t/>
            </a:r>
          </a:p>
          <a:p>
            <a:r>
              <a:rPr lang="en-US"/>
              <a:t>a.  Mostrar visualmente el problema de la falsificación y la pérdida de dinero/confianza. </a:t>
            </a:r>
          </a:p>
          <a:p>
            <a:r>
              <a:rPr lang="en-US"/>
              <a:t/>
            </a:r>
          </a:p>
          <a:p>
            <a:r>
              <a:rPr lang="en-US"/>
              <a:t>b. Expone la crisis de confianza identificada en el contexto del “Need” del pitch.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2. La Solución Conceptual o Approach (IE6, IE9) </a:t>
            </a:r>
          </a:p>
          <a:p>
            <a:r>
              <a:rPr lang="en-US"/>
              <a:t/>
            </a:r>
          </a:p>
          <a:p>
            <a:r>
              <a:rPr lang="en-US"/>
              <a:t>a. Mapa visual de la arquitectura propuesta (Nodos y Red). </a:t>
            </a:r>
          </a:p>
          <a:p>
            <a:r>
              <a:rPr lang="en-US"/>
              <a:t/>
            </a:r>
          </a:p>
          <a:p>
            <a:r>
              <a:rPr lang="en-US"/>
              <a:t>b. Expone la arquitectura P2P del prototipo. </a:t>
            </a:r>
          </a:p>
          <a:p>
            <a:r>
              <a:rPr lang="en-US"/>
              <a:t/>
            </a:r>
          </a:p>
          <a:p>
            <a:r>
              <a:rPr lang="en-US"/>
              <a:t>c. Explica la simulación UTXO desarrollada en el prototipo.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2. La Solución Conceptual o Approach (IE6, IE9) </a:t>
            </a:r>
          </a:p>
          <a:p>
            <a:r>
              <a:rPr lang="en-US"/>
              <a:t/>
            </a:r>
          </a:p>
          <a:p>
            <a:r>
              <a:rPr lang="en-US"/>
              <a:t>a. Mapa visual de la arquitectura propuesta (Nodos y Red). </a:t>
            </a:r>
          </a:p>
          <a:p>
            <a:r>
              <a:rPr lang="en-US"/>
              <a:t/>
            </a:r>
          </a:p>
          <a:p>
            <a:r>
              <a:rPr lang="en-US"/>
              <a:t>b. Expone la arquitectura P2P del prototipo. </a:t>
            </a:r>
          </a:p>
          <a:p>
            <a:r>
              <a:rPr lang="en-US"/>
              <a:t/>
            </a:r>
          </a:p>
          <a:p>
            <a:r>
              <a:rPr lang="en-US"/>
              <a:t>c. Explica la simulación UTXO desarrollada en el prototipo.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2. La Solución Conceptual o Approach (IE6, IE9) </a:t>
            </a:r>
          </a:p>
          <a:p>
            <a:r>
              <a:rPr lang="en-US"/>
              <a:t/>
            </a:r>
          </a:p>
          <a:p>
            <a:r>
              <a:rPr lang="en-US"/>
              <a:t>a. Mapa visual de la arquitectura propuesta (Nodos y Red). </a:t>
            </a:r>
          </a:p>
          <a:p>
            <a:r>
              <a:rPr lang="en-US"/>
              <a:t/>
            </a:r>
          </a:p>
          <a:p>
            <a:r>
              <a:rPr lang="en-US"/>
              <a:t>b. Expone la arquitectura P2P del prototipo. </a:t>
            </a:r>
          </a:p>
          <a:p>
            <a:r>
              <a:rPr lang="en-US"/>
              <a:t/>
            </a:r>
          </a:p>
          <a:p>
            <a:r>
              <a:rPr lang="en-US"/>
              <a:t>c. Explica la simulación UTXO desarrollada en el prototipo.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3. Demo Criptográfica o Benefit (Criptografía e Integridad) (IE12) </a:t>
            </a:r>
          </a:p>
          <a:p>
            <a:r>
              <a:rPr lang="en-US"/>
              <a:t/>
            </a:r>
          </a:p>
          <a:p>
            <a:r>
              <a:rPr lang="en-US"/>
              <a:t>a. Breve explicación visual de cómo funciona el Hash del certificado de origen para garantizar que "lo que sale de la viña es lo que llega a la mesa". </a:t>
            </a:r>
          </a:p>
          <a:p>
            <a:r>
              <a:rPr lang="en-US"/>
              <a:t/>
            </a:r>
          </a:p>
          <a:p>
            <a:r>
              <a:rPr lang="en-US"/>
              <a:t>b. Explica el uso de hash y firma digital dentro del prototipo.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3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3.pn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3600908" cy="310578"/>
          </a:xfrm>
          <a:custGeom>
            <a:avLst/>
            <a:gdLst/>
            <a:ahLst/>
            <a:cxnLst/>
            <a:rect r="r" b="b" t="t" l="l"/>
            <a:pathLst>
              <a:path h="310578" w="3600908">
                <a:moveTo>
                  <a:pt x="0" y="0"/>
                </a:moveTo>
                <a:lnTo>
                  <a:pt x="3600908" y="0"/>
                </a:lnTo>
                <a:lnTo>
                  <a:pt x="3600908" y="310578"/>
                </a:lnTo>
                <a:lnTo>
                  <a:pt x="0" y="310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546355"/>
            <a:ext cx="11833693" cy="4881398"/>
          </a:xfrm>
          <a:custGeom>
            <a:avLst/>
            <a:gdLst/>
            <a:ahLst/>
            <a:cxnLst/>
            <a:rect r="r" b="b" t="t" l="l"/>
            <a:pathLst>
              <a:path h="4881398" w="11833693">
                <a:moveTo>
                  <a:pt x="0" y="0"/>
                </a:moveTo>
                <a:lnTo>
                  <a:pt x="11833693" y="0"/>
                </a:lnTo>
                <a:lnTo>
                  <a:pt x="11833693" y="4881399"/>
                </a:lnTo>
                <a:lnTo>
                  <a:pt x="0" y="4881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113513" y="1028700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6" y="0"/>
                </a:lnTo>
                <a:lnTo>
                  <a:pt x="12606136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9999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002853" y="-3721491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144000" y="1270174"/>
            <a:ext cx="7436786" cy="7746652"/>
          </a:xfrm>
          <a:custGeom>
            <a:avLst/>
            <a:gdLst/>
            <a:ahLst/>
            <a:cxnLst/>
            <a:rect r="r" b="b" t="t" l="l"/>
            <a:pathLst>
              <a:path h="7746652" w="7436786">
                <a:moveTo>
                  <a:pt x="0" y="0"/>
                </a:moveTo>
                <a:lnTo>
                  <a:pt x="7436786" y="0"/>
                </a:lnTo>
                <a:lnTo>
                  <a:pt x="7436786" y="7746652"/>
                </a:lnTo>
                <a:lnTo>
                  <a:pt x="0" y="77466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700" y="8565171"/>
            <a:ext cx="4653909" cy="693129"/>
            <a:chOff x="0" y="0"/>
            <a:chExt cx="1225721" cy="1825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25721" cy="182552"/>
            </a:xfrm>
            <a:custGeom>
              <a:avLst/>
              <a:gdLst/>
              <a:ahLst/>
              <a:cxnLst/>
              <a:rect r="r" b="b" t="t" l="l"/>
              <a:pathLst>
                <a:path h="182552" w="1225721">
                  <a:moveTo>
                    <a:pt x="91276" y="0"/>
                  </a:moveTo>
                  <a:lnTo>
                    <a:pt x="1134445" y="0"/>
                  </a:lnTo>
                  <a:cubicBezTo>
                    <a:pt x="1184855" y="0"/>
                    <a:pt x="1225721" y="40866"/>
                    <a:pt x="1225721" y="91276"/>
                  </a:cubicBezTo>
                  <a:lnTo>
                    <a:pt x="1225721" y="91276"/>
                  </a:lnTo>
                  <a:cubicBezTo>
                    <a:pt x="1225721" y="115484"/>
                    <a:pt x="1216104" y="138701"/>
                    <a:pt x="1198987" y="155818"/>
                  </a:cubicBezTo>
                  <a:cubicBezTo>
                    <a:pt x="1181869" y="172936"/>
                    <a:pt x="1158653" y="182552"/>
                    <a:pt x="1134445" y="182552"/>
                  </a:cubicBezTo>
                  <a:lnTo>
                    <a:pt x="91276" y="182552"/>
                  </a:lnTo>
                  <a:cubicBezTo>
                    <a:pt x="67068" y="182552"/>
                    <a:pt x="43852" y="172936"/>
                    <a:pt x="26734" y="155818"/>
                  </a:cubicBezTo>
                  <a:cubicBezTo>
                    <a:pt x="9617" y="138701"/>
                    <a:pt x="0" y="115484"/>
                    <a:pt x="0" y="91276"/>
                  </a:cubicBezTo>
                  <a:lnTo>
                    <a:pt x="0" y="91276"/>
                  </a:lnTo>
                  <a:cubicBezTo>
                    <a:pt x="0" y="67068"/>
                    <a:pt x="9617" y="43852"/>
                    <a:pt x="26734" y="26734"/>
                  </a:cubicBezTo>
                  <a:cubicBezTo>
                    <a:pt x="43852" y="9617"/>
                    <a:pt x="67068" y="0"/>
                    <a:pt x="91276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25721" cy="22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353401" y="9258300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498270" y="8356134"/>
            <a:ext cx="1111203" cy="111120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144000" y="-555602"/>
            <a:ext cx="1111203" cy="1111203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817688" y="8744636"/>
            <a:ext cx="472367" cy="334200"/>
          </a:xfrm>
          <a:custGeom>
            <a:avLst/>
            <a:gdLst/>
            <a:ahLst/>
            <a:cxnLst/>
            <a:rect r="r" b="b" t="t" l="l"/>
            <a:pathLst>
              <a:path h="334200" w="472367">
                <a:moveTo>
                  <a:pt x="0" y="0"/>
                </a:moveTo>
                <a:lnTo>
                  <a:pt x="472367" y="0"/>
                </a:lnTo>
                <a:lnTo>
                  <a:pt x="472367" y="334200"/>
                </a:lnTo>
                <a:lnTo>
                  <a:pt x="0" y="334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251126" y="8691768"/>
            <a:ext cx="4951229" cy="387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8"/>
              </a:lnSpc>
            </a:pPr>
            <a:r>
              <a:rPr lang="en-US" sz="2198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Fundamentos de Blockchain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48733" y="4825648"/>
            <a:ext cx="7168933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CASO VIÑA WINECHAIN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548733" y="5547977"/>
            <a:ext cx="2268637" cy="368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Presented by :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21444" y="5547977"/>
            <a:ext cx="2852562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Antonia Faúndes</a:t>
            </a:r>
          </a:p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Isam Mejias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548733" y="2699224"/>
            <a:ext cx="8477276" cy="2076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0"/>
              </a:lnSpc>
            </a:pPr>
            <a:r>
              <a:rPr lang="en-US" sz="12000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BLOCKC</a:t>
            </a:r>
            <a:r>
              <a:rPr lang="en-US" sz="12000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HAIN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4579689" y="7907298"/>
            <a:ext cx="388502" cy="388502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500953" y="9587574"/>
            <a:ext cx="8516542" cy="1687699"/>
            <a:chOff x="0" y="0"/>
            <a:chExt cx="2243040" cy="4444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43040" cy="444497"/>
            </a:xfrm>
            <a:custGeom>
              <a:avLst/>
              <a:gdLst/>
              <a:ahLst/>
              <a:cxnLst/>
              <a:rect r="r" b="b" t="t" l="l"/>
              <a:pathLst>
                <a:path h="444497" w="2243040">
                  <a:moveTo>
                    <a:pt x="90904" y="0"/>
                  </a:moveTo>
                  <a:lnTo>
                    <a:pt x="2152135" y="0"/>
                  </a:lnTo>
                  <a:cubicBezTo>
                    <a:pt x="2202341" y="0"/>
                    <a:pt x="2243040" y="40699"/>
                    <a:pt x="2243040" y="90904"/>
                  </a:cubicBezTo>
                  <a:lnTo>
                    <a:pt x="2243040" y="353592"/>
                  </a:lnTo>
                  <a:cubicBezTo>
                    <a:pt x="2243040" y="403798"/>
                    <a:pt x="2202341" y="444497"/>
                    <a:pt x="2152135" y="444497"/>
                  </a:cubicBezTo>
                  <a:lnTo>
                    <a:pt x="90904" y="444497"/>
                  </a:lnTo>
                  <a:cubicBezTo>
                    <a:pt x="40699" y="444497"/>
                    <a:pt x="0" y="403798"/>
                    <a:pt x="0" y="353592"/>
                  </a:cubicBezTo>
                  <a:lnTo>
                    <a:pt x="0" y="90904"/>
                  </a:lnTo>
                  <a:cubicBezTo>
                    <a:pt x="0" y="40699"/>
                    <a:pt x="40699" y="0"/>
                    <a:pt x="909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43040" cy="482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7062759" y="-9610889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7365404" y="-2057400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452776" y="9587574"/>
            <a:ext cx="2912628" cy="291262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8679411">
            <a:off x="-4857197" y="-865145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0"/>
                </a:lnTo>
                <a:lnTo>
                  <a:pt x="0" y="1201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200844" y="3452042"/>
            <a:ext cx="13058456" cy="5386613"/>
          </a:xfrm>
          <a:custGeom>
            <a:avLst/>
            <a:gdLst/>
            <a:ahLst/>
            <a:cxnLst/>
            <a:rect r="r" b="b" t="t" l="l"/>
            <a:pathLst>
              <a:path h="5386613" w="13058456">
                <a:moveTo>
                  <a:pt x="0" y="0"/>
                </a:moveTo>
                <a:lnTo>
                  <a:pt x="13058456" y="0"/>
                </a:lnTo>
                <a:lnTo>
                  <a:pt x="13058456" y="5386614"/>
                </a:lnTo>
                <a:lnTo>
                  <a:pt x="0" y="538661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33998" y="2404349"/>
            <a:ext cx="1047694" cy="1047694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400000">
            <a:off x="14958770" y="972452"/>
            <a:ext cx="3600908" cy="310578"/>
          </a:xfrm>
          <a:custGeom>
            <a:avLst/>
            <a:gdLst/>
            <a:ahLst/>
            <a:cxnLst/>
            <a:rect r="r" b="b" t="t" l="l"/>
            <a:pathLst>
              <a:path h="310578" w="3600908">
                <a:moveTo>
                  <a:pt x="0" y="0"/>
                </a:moveTo>
                <a:lnTo>
                  <a:pt x="3600908" y="0"/>
                </a:lnTo>
                <a:lnTo>
                  <a:pt x="3600908" y="310579"/>
                </a:lnTo>
                <a:lnTo>
                  <a:pt x="0" y="3105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936904" y="5239641"/>
            <a:ext cx="3223358" cy="3318431"/>
          </a:xfrm>
          <a:custGeom>
            <a:avLst/>
            <a:gdLst/>
            <a:ahLst/>
            <a:cxnLst/>
            <a:rect r="r" b="b" t="t" l="l"/>
            <a:pathLst>
              <a:path h="3318431" w="3223358">
                <a:moveTo>
                  <a:pt x="0" y="0"/>
                </a:moveTo>
                <a:lnTo>
                  <a:pt x="3223358" y="0"/>
                </a:lnTo>
                <a:lnTo>
                  <a:pt x="3223358" y="3318430"/>
                </a:lnTo>
                <a:lnTo>
                  <a:pt x="0" y="3318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5433" t="0" r="-74141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672655" y="5239641"/>
            <a:ext cx="3223358" cy="3318431"/>
          </a:xfrm>
          <a:custGeom>
            <a:avLst/>
            <a:gdLst/>
            <a:ahLst/>
            <a:cxnLst/>
            <a:rect r="r" b="b" t="t" l="l"/>
            <a:pathLst>
              <a:path h="3318431" w="3223358">
                <a:moveTo>
                  <a:pt x="0" y="0"/>
                </a:moveTo>
                <a:lnTo>
                  <a:pt x="3223358" y="0"/>
                </a:lnTo>
                <a:lnTo>
                  <a:pt x="3223358" y="3318430"/>
                </a:lnTo>
                <a:lnTo>
                  <a:pt x="0" y="3318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5433" t="0" r="-74141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410363" y="5239641"/>
            <a:ext cx="3223358" cy="3318431"/>
          </a:xfrm>
          <a:custGeom>
            <a:avLst/>
            <a:gdLst/>
            <a:ahLst/>
            <a:cxnLst/>
            <a:rect r="r" b="b" t="t" l="l"/>
            <a:pathLst>
              <a:path h="3318431" w="3223358">
                <a:moveTo>
                  <a:pt x="0" y="0"/>
                </a:moveTo>
                <a:lnTo>
                  <a:pt x="3223357" y="0"/>
                </a:lnTo>
                <a:lnTo>
                  <a:pt x="3223357" y="3318430"/>
                </a:lnTo>
                <a:lnTo>
                  <a:pt x="0" y="33184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75433" t="0" r="-74141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144466" y="768925"/>
            <a:ext cx="2341035" cy="2341035"/>
          </a:xfrm>
          <a:custGeom>
            <a:avLst/>
            <a:gdLst/>
            <a:ahLst/>
            <a:cxnLst/>
            <a:rect r="r" b="b" t="t" l="l"/>
            <a:pathLst>
              <a:path h="2341035" w="2341035">
                <a:moveTo>
                  <a:pt x="0" y="0"/>
                </a:moveTo>
                <a:lnTo>
                  <a:pt x="2341035" y="0"/>
                </a:lnTo>
                <a:lnTo>
                  <a:pt x="2341035" y="2341035"/>
                </a:lnTo>
                <a:lnTo>
                  <a:pt x="0" y="2341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200844" y="1939443"/>
            <a:ext cx="8943622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93"/>
              </a:lnSpc>
            </a:pPr>
            <a:r>
              <a:rPr lang="en-US" sz="8244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COSTO DE LA CRISIS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653914" y="3693836"/>
            <a:ext cx="1226060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Sin una fuente unica y verificable de la verdad, cada actor culpa a los demás. No se puede ver en qué punto falló la cadena de frío. Se necesita un método para registrar de forma inalterable los datos.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18355" y="5500847"/>
            <a:ext cx="2860456" cy="853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682"/>
              </a:lnSpc>
            </a:pPr>
            <a:r>
              <a:rPr lang="en-US" sz="4773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USD 2.7 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18355" y="6941713"/>
            <a:ext cx="2860456" cy="82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2341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En botellas rechazadas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54106" y="5500847"/>
            <a:ext cx="2860456" cy="85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2"/>
              </a:lnSpc>
            </a:pPr>
            <a:r>
              <a:rPr lang="en-US" sz="4773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60%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908454" y="6941713"/>
            <a:ext cx="2860456" cy="82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2341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En la Caída de Facturacion Anual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91813" y="5500847"/>
            <a:ext cx="2860456" cy="859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82"/>
              </a:lnSpc>
            </a:pPr>
            <a:r>
              <a:rPr lang="en-US" sz="4773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646162" y="6941713"/>
            <a:ext cx="2860456" cy="82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78"/>
              </a:lnSpc>
            </a:pPr>
            <a:r>
              <a:rPr lang="en-US" sz="2341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Crisis Simultánea y</a:t>
            </a:r>
          </a:p>
          <a:p>
            <a:pPr algn="ctr">
              <a:lnSpc>
                <a:spcPts val="3278"/>
              </a:lnSpc>
            </a:pPr>
            <a:r>
              <a:rPr lang="en-US" sz="2341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Falsificacion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899918" y="-9194558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2405056" y="3443905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365404" y="1376864"/>
            <a:ext cx="6485578" cy="6485578"/>
          </a:xfrm>
          <a:custGeom>
            <a:avLst/>
            <a:gdLst/>
            <a:ahLst/>
            <a:cxnLst/>
            <a:rect r="r" b="b" t="t" l="l"/>
            <a:pathLst>
              <a:path h="6485578" w="6485578">
                <a:moveTo>
                  <a:pt x="0" y="0"/>
                </a:moveTo>
                <a:lnTo>
                  <a:pt x="6485578" y="0"/>
                </a:lnTo>
                <a:lnTo>
                  <a:pt x="6485578" y="6485578"/>
                </a:lnTo>
                <a:lnTo>
                  <a:pt x="0" y="6485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822680" y="1834139"/>
            <a:ext cx="5571028" cy="5571028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38807" t="0" r="-38807" b="0"/>
              </a:stretch>
            </a:blipFill>
            <a:ln w="38100" cap="sq">
              <a:gradFill>
                <a:gsLst>
                  <a:gs pos="0">
                    <a:srgbClr val="FBBB22">
                      <a:alpha val="100000"/>
                    </a:srgbClr>
                  </a:gs>
                  <a:gs pos="100000">
                    <a:srgbClr val="F3693A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7067122" y="6172200"/>
            <a:ext cx="2912628" cy="29126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52776" y="-1714955"/>
            <a:ext cx="2912628" cy="2912628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850982" y="2109582"/>
            <a:ext cx="356814" cy="35681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523847" y="4619653"/>
            <a:ext cx="1047694" cy="1047694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909090" y="673827"/>
            <a:ext cx="1047694" cy="104769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D20E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2500953" y="-843850"/>
            <a:ext cx="8516542" cy="1687699"/>
            <a:chOff x="0" y="0"/>
            <a:chExt cx="2243040" cy="4444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43040" cy="444497"/>
            </a:xfrm>
            <a:custGeom>
              <a:avLst/>
              <a:gdLst/>
              <a:ahLst/>
              <a:cxnLst/>
              <a:rect r="r" b="b" t="t" l="l"/>
              <a:pathLst>
                <a:path h="444497" w="2243040">
                  <a:moveTo>
                    <a:pt x="90904" y="0"/>
                  </a:moveTo>
                  <a:lnTo>
                    <a:pt x="2152135" y="0"/>
                  </a:lnTo>
                  <a:cubicBezTo>
                    <a:pt x="2202341" y="0"/>
                    <a:pt x="2243040" y="40699"/>
                    <a:pt x="2243040" y="90904"/>
                  </a:cubicBezTo>
                  <a:lnTo>
                    <a:pt x="2243040" y="353592"/>
                  </a:lnTo>
                  <a:cubicBezTo>
                    <a:pt x="2243040" y="403798"/>
                    <a:pt x="2202341" y="444497"/>
                    <a:pt x="2152135" y="444497"/>
                  </a:cubicBezTo>
                  <a:lnTo>
                    <a:pt x="90904" y="444497"/>
                  </a:lnTo>
                  <a:cubicBezTo>
                    <a:pt x="40699" y="444497"/>
                    <a:pt x="0" y="403798"/>
                    <a:pt x="0" y="353592"/>
                  </a:cubicBezTo>
                  <a:lnTo>
                    <a:pt x="0" y="90904"/>
                  </a:lnTo>
                  <a:cubicBezTo>
                    <a:pt x="0" y="40699"/>
                    <a:pt x="40699" y="0"/>
                    <a:pt x="909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43040" cy="482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936924" y="2222570"/>
            <a:ext cx="184930" cy="130838"/>
          </a:xfrm>
          <a:custGeom>
            <a:avLst/>
            <a:gdLst/>
            <a:ahLst/>
            <a:cxnLst/>
            <a:rect r="r" b="b" t="t" l="l"/>
            <a:pathLst>
              <a:path h="130838" w="184930">
                <a:moveTo>
                  <a:pt x="0" y="0"/>
                </a:moveTo>
                <a:lnTo>
                  <a:pt x="184931" y="0"/>
                </a:lnTo>
                <a:lnTo>
                  <a:pt x="184931" y="130838"/>
                </a:lnTo>
                <a:lnTo>
                  <a:pt x="0" y="13083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4121855" y="5168350"/>
            <a:ext cx="356814" cy="356814"/>
            <a:chOff x="0" y="0"/>
            <a:chExt cx="475752" cy="475752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475752" cy="475752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D20EA">
                      <a:alpha val="100000"/>
                    </a:srgbClr>
                  </a:gs>
                  <a:gs pos="100000">
                    <a:srgbClr val="3202DB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114589" y="150651"/>
              <a:ext cx="246574" cy="174451"/>
            </a:xfrm>
            <a:custGeom>
              <a:avLst/>
              <a:gdLst/>
              <a:ahLst/>
              <a:cxnLst/>
              <a:rect r="r" b="b" t="t" l="l"/>
              <a:pathLst>
                <a:path h="174451" w="246574">
                  <a:moveTo>
                    <a:pt x="0" y="0"/>
                  </a:moveTo>
                  <a:lnTo>
                    <a:pt x="246574" y="0"/>
                  </a:lnTo>
                  <a:lnTo>
                    <a:pt x="246574" y="174450"/>
                  </a:lnTo>
                  <a:lnTo>
                    <a:pt x="0" y="17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393707" y="7549338"/>
            <a:ext cx="356814" cy="356814"/>
            <a:chOff x="0" y="0"/>
            <a:chExt cx="475752" cy="475752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475752" cy="475752"/>
              <a:chOff x="0" y="0"/>
              <a:chExt cx="812800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D20EA">
                      <a:alpha val="100000"/>
                    </a:srgbClr>
                  </a:gs>
                  <a:gs pos="100000">
                    <a:srgbClr val="3202DB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35" id="35"/>
            <p:cNvSpPr/>
            <p:nvPr/>
          </p:nvSpPr>
          <p:spPr>
            <a:xfrm flipH="false" flipV="false" rot="0">
              <a:off x="114589" y="150651"/>
              <a:ext cx="246574" cy="174451"/>
            </a:xfrm>
            <a:custGeom>
              <a:avLst/>
              <a:gdLst/>
              <a:ahLst/>
              <a:cxnLst/>
              <a:rect r="r" b="b" t="t" l="l"/>
              <a:pathLst>
                <a:path h="174451" w="246574">
                  <a:moveTo>
                    <a:pt x="0" y="0"/>
                  </a:moveTo>
                  <a:lnTo>
                    <a:pt x="246574" y="0"/>
                  </a:lnTo>
                  <a:lnTo>
                    <a:pt x="246574" y="174450"/>
                  </a:lnTo>
                  <a:lnTo>
                    <a:pt x="0" y="17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06702" y="9258300"/>
            <a:ext cx="388502" cy="388502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39" id="39"/>
          <p:cNvSpPr/>
          <p:nvPr/>
        </p:nvSpPr>
        <p:spPr>
          <a:xfrm flipH="false" flipV="false" rot="0">
            <a:off x="7512775" y="6617853"/>
            <a:ext cx="2021322" cy="2021322"/>
          </a:xfrm>
          <a:custGeom>
            <a:avLst/>
            <a:gdLst/>
            <a:ahLst/>
            <a:cxnLst/>
            <a:rect r="r" b="b" t="t" l="l"/>
            <a:pathLst>
              <a:path h="2021322" w="2021322">
                <a:moveTo>
                  <a:pt x="0" y="0"/>
                </a:moveTo>
                <a:lnTo>
                  <a:pt x="2021322" y="0"/>
                </a:lnTo>
                <a:lnTo>
                  <a:pt x="2021322" y="2021322"/>
                </a:lnTo>
                <a:lnTo>
                  <a:pt x="0" y="2021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19321" y="7181636"/>
            <a:ext cx="537837" cy="548813"/>
          </a:xfrm>
          <a:custGeom>
            <a:avLst/>
            <a:gdLst/>
            <a:ahLst/>
            <a:cxnLst/>
            <a:rect r="r" b="b" t="t" l="l"/>
            <a:pathLst>
              <a:path h="548813" w="537837">
                <a:moveTo>
                  <a:pt x="0" y="0"/>
                </a:moveTo>
                <a:lnTo>
                  <a:pt x="537837" y="0"/>
                </a:lnTo>
                <a:lnTo>
                  <a:pt x="537837" y="548813"/>
                </a:lnTo>
                <a:lnTo>
                  <a:pt x="0" y="54881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1373240" y="2689197"/>
            <a:ext cx="6277990" cy="235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sz="7700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REGISTROS Y VERDADES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700093" y="1894322"/>
            <a:ext cx="225104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LA VIÑA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AFIRMA QUE EL LOTE SALIÓ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700093" y="3214591"/>
            <a:ext cx="249726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DENTRO DEL RANGO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649902" y="5076825"/>
            <a:ext cx="338680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EL IMPORTADOR ACUSA A WINECHAIN DE FRAUDE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69596" y="7393824"/>
            <a:ext cx="387508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LA NAVIERA AFIRMA QUE EL PRODUCTO YA FUE ENVIADO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39559" y="6982967"/>
            <a:ext cx="426953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SIN REGISTRO NEUTRAL NI AUDITABLE NI VERIFICABLE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8098" y="5285081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7890652" y="7878368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0"/>
                </a:lnTo>
                <a:lnTo>
                  <a:pt x="0" y="1201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47757">
            <a:off x="10135562" y="-8333629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0"/>
                </a:lnTo>
                <a:lnTo>
                  <a:pt x="0" y="1201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85179" y="8389833"/>
            <a:ext cx="1047694" cy="10476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33084" y="-1913370"/>
            <a:ext cx="2912628" cy="29126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87050" y="3330609"/>
            <a:ext cx="356814" cy="356814"/>
            <a:chOff x="0" y="0"/>
            <a:chExt cx="475752" cy="475752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475752" cy="475752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gradFill rotWithShape="true">
                <a:gsLst>
                  <a:gs pos="0">
                    <a:srgbClr val="8D20EA">
                      <a:alpha val="100000"/>
                    </a:srgbClr>
                  </a:gs>
                  <a:gs pos="100000">
                    <a:srgbClr val="3202DB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76200" y="9525"/>
                <a:ext cx="660400" cy="7270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114589" y="150651"/>
              <a:ext cx="246574" cy="174451"/>
            </a:xfrm>
            <a:custGeom>
              <a:avLst/>
              <a:gdLst/>
              <a:ahLst/>
              <a:cxnLst/>
              <a:rect r="r" b="b" t="t" l="l"/>
              <a:pathLst>
                <a:path h="174451" w="246574">
                  <a:moveTo>
                    <a:pt x="0" y="0"/>
                  </a:moveTo>
                  <a:lnTo>
                    <a:pt x="246574" y="0"/>
                  </a:lnTo>
                  <a:lnTo>
                    <a:pt x="246574" y="174450"/>
                  </a:lnTo>
                  <a:lnTo>
                    <a:pt x="0" y="174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8902281" y="3002628"/>
            <a:ext cx="8486863" cy="5070901"/>
          </a:xfrm>
          <a:custGeom>
            <a:avLst/>
            <a:gdLst/>
            <a:ahLst/>
            <a:cxnLst/>
            <a:rect r="r" b="b" t="t" l="l"/>
            <a:pathLst>
              <a:path h="5070901" w="8486863">
                <a:moveTo>
                  <a:pt x="0" y="0"/>
                </a:moveTo>
                <a:lnTo>
                  <a:pt x="8486863" y="0"/>
                </a:lnTo>
                <a:lnTo>
                  <a:pt x="8486863" y="5070901"/>
                </a:lnTo>
                <a:lnTo>
                  <a:pt x="0" y="50709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4890" y="874211"/>
            <a:ext cx="1106094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59"/>
              </a:lnSpc>
            </a:pPr>
            <a:r>
              <a:rPr lang="en-US" sz="87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SOLUCION: RED P2P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1834" y="3245145"/>
            <a:ext cx="6849889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VIÑA WINECHAIN - TRANSPORTISTA LOGISTICO - ADUANA - DISTRIBUIDOR MAYORISTA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65457" y="5590679"/>
            <a:ext cx="6423122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Todos somparten un mismo libro Contable.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Ningun actor controla el registro.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Red tipo Hyperledger.</a:t>
            </a:r>
          </a:p>
          <a:p>
            <a:pPr algn="just">
              <a:lnSpc>
                <a:spcPts val="2800"/>
              </a:lnSpc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Tolerante a Particiones [C.A.P].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58098" y="5285081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7890652" y="7878368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0"/>
                </a:lnTo>
                <a:lnTo>
                  <a:pt x="0" y="1201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347757">
            <a:off x="10135562" y="-8333629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0"/>
                </a:lnTo>
                <a:lnTo>
                  <a:pt x="0" y="120172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85179" y="8389833"/>
            <a:ext cx="1047694" cy="104769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33084" y="-1913370"/>
            <a:ext cx="2912628" cy="2912628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13523" y="1508962"/>
            <a:ext cx="7889521" cy="8493112"/>
            <a:chOff x="0" y="0"/>
            <a:chExt cx="10519361" cy="1132415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10519361" cy="11324150"/>
              <a:chOff x="0" y="0"/>
              <a:chExt cx="1678627" cy="1807051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1678627" cy="1807051"/>
              </a:xfrm>
              <a:custGeom>
                <a:avLst/>
                <a:gdLst/>
                <a:ahLst/>
                <a:cxnLst/>
                <a:rect r="r" b="b" t="t" l="l"/>
                <a:pathLst>
                  <a:path h="1807051" w="1678627">
                    <a:moveTo>
                      <a:pt x="0" y="0"/>
                    </a:moveTo>
                    <a:lnTo>
                      <a:pt x="1678627" y="0"/>
                    </a:lnTo>
                    <a:lnTo>
                      <a:pt x="1678627" y="1807051"/>
                    </a:lnTo>
                    <a:lnTo>
                      <a:pt x="0" y="1807051"/>
                    </a:lnTo>
                    <a:close/>
                  </a:path>
                </a:pathLst>
              </a:custGeom>
              <a:solidFill>
                <a:srgbClr val="F2F1F2"/>
              </a:solid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66675"/>
                <a:ext cx="1678627" cy="18737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499"/>
                  </a:lnSpc>
                </a:pPr>
              </a:p>
            </p:txBody>
          </p:sp>
        </p:grpSp>
        <p:sp>
          <p:nvSpPr>
            <p:cNvPr name="Freeform 15" id="15"/>
            <p:cNvSpPr/>
            <p:nvPr/>
          </p:nvSpPr>
          <p:spPr>
            <a:xfrm flipH="false" flipV="false" rot="0">
              <a:off x="480520" y="241286"/>
              <a:ext cx="9662165" cy="10945422"/>
            </a:xfrm>
            <a:custGeom>
              <a:avLst/>
              <a:gdLst/>
              <a:ahLst/>
              <a:cxnLst/>
              <a:rect r="r" b="b" t="t" l="l"/>
              <a:pathLst>
                <a:path h="10945422" w="9662165">
                  <a:moveTo>
                    <a:pt x="0" y="0"/>
                  </a:moveTo>
                  <a:lnTo>
                    <a:pt x="9662165" y="0"/>
                  </a:lnTo>
                  <a:lnTo>
                    <a:pt x="9662165" y="10945421"/>
                  </a:lnTo>
                  <a:lnTo>
                    <a:pt x="0" y="109454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45572" y="351908"/>
            <a:ext cx="936245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ARQUITECTURA PROPUESTA Y PROTOTIPO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688905">
            <a:off x="9824753" y="-7994491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45713" y="763284"/>
            <a:ext cx="1047694" cy="104769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28700" y="6153558"/>
            <a:ext cx="3675497" cy="2664650"/>
          </a:xfrm>
          <a:custGeom>
            <a:avLst/>
            <a:gdLst/>
            <a:ahLst/>
            <a:cxnLst/>
            <a:rect r="r" b="b" t="t" l="l"/>
            <a:pathLst>
              <a:path h="2664650" w="3675497">
                <a:moveTo>
                  <a:pt x="0" y="0"/>
                </a:moveTo>
                <a:lnTo>
                  <a:pt x="3675497" y="0"/>
                </a:lnTo>
                <a:lnTo>
                  <a:pt x="3675497" y="2664650"/>
                </a:lnTo>
                <a:lnTo>
                  <a:pt x="0" y="266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7575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56894" y="6153558"/>
            <a:ext cx="3325563" cy="2664650"/>
          </a:xfrm>
          <a:custGeom>
            <a:avLst/>
            <a:gdLst/>
            <a:ahLst/>
            <a:cxnLst/>
            <a:rect r="r" b="b" t="t" l="l"/>
            <a:pathLst>
              <a:path h="2664650" w="3325563">
                <a:moveTo>
                  <a:pt x="0" y="0"/>
                </a:moveTo>
                <a:lnTo>
                  <a:pt x="3325563" y="0"/>
                </a:lnTo>
                <a:lnTo>
                  <a:pt x="3325563" y="2664650"/>
                </a:lnTo>
                <a:lnTo>
                  <a:pt x="0" y="266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9424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09956" y="6424882"/>
            <a:ext cx="1294029" cy="72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40459" y="6424882"/>
            <a:ext cx="1294029" cy="723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6231" y="6358207"/>
            <a:ext cx="167568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UTXO - 0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306734" y="6358207"/>
            <a:ext cx="152194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UTXO - 1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29877"/>
            <a:ext cx="11750464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79"/>
              </a:lnSpc>
            </a:pPr>
            <a:r>
              <a:rPr lang="en-US" sz="83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SIMULACION  UTXO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927667"/>
            <a:ext cx="13421750" cy="2482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Cada transacción ‘GASTA’ el UTXO anterior y crea uno nuevo ej El Lote BT-0001 solo puede tener un dueño vigente a la vez que el doble gasto queda matemáticamente impedido.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Cada transacción CONSUME o gasta el UTXO anterior como input y crea un nuevo UTXO como Output. El UTXO anterior queda marcado ‘GASTADO’ e inmutable → se reconstruye la cadena de custodia completa del lote impidiendo el ‘DOBLE GASTO’ a si mismo el lote no puede aparecer simultáneamente en manos de los dos distribuidores distintos.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9956" y="7419208"/>
            <a:ext cx="3098548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Dueño : Viña Winechain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Estado : NO GASTADO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Lote : BT - 0001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340459" y="7419208"/>
            <a:ext cx="2846313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Dueño : Transportista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Estado : NO GASTADO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Lote : BT - 0001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514539" y="6153558"/>
            <a:ext cx="3396841" cy="2664650"/>
          </a:xfrm>
          <a:custGeom>
            <a:avLst/>
            <a:gdLst/>
            <a:ahLst/>
            <a:cxnLst/>
            <a:rect r="r" b="b" t="t" l="l"/>
            <a:pathLst>
              <a:path h="2664650" w="3396841">
                <a:moveTo>
                  <a:pt x="0" y="0"/>
                </a:moveTo>
                <a:lnTo>
                  <a:pt x="3396841" y="0"/>
                </a:lnTo>
                <a:lnTo>
                  <a:pt x="3396841" y="2664650"/>
                </a:lnTo>
                <a:lnTo>
                  <a:pt x="0" y="266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71" r="-94245" b="-1071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906326" y="6424882"/>
            <a:ext cx="132176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93311" y="6358207"/>
            <a:ext cx="147779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UTXO - 2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906326" y="7419208"/>
            <a:ext cx="2907319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Dueño : Aduana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Estado : NO GASTADO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Lote : BT - 0001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082602" y="6153558"/>
            <a:ext cx="5321479" cy="2664650"/>
          </a:xfrm>
          <a:custGeom>
            <a:avLst/>
            <a:gdLst/>
            <a:ahLst/>
            <a:cxnLst/>
            <a:rect r="r" b="b" t="t" l="l"/>
            <a:pathLst>
              <a:path h="2664650" w="5321479">
                <a:moveTo>
                  <a:pt x="0" y="0"/>
                </a:moveTo>
                <a:lnTo>
                  <a:pt x="5321480" y="0"/>
                </a:lnTo>
                <a:lnTo>
                  <a:pt x="5321480" y="2664650"/>
                </a:lnTo>
                <a:lnTo>
                  <a:pt x="0" y="26646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71" r="-23992" b="-107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474389" y="6424882"/>
            <a:ext cx="1321765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461375" y="6358207"/>
            <a:ext cx="147779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UTXO - 3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474389" y="7419208"/>
            <a:ext cx="4192947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Dueño : Distribuidor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Estado : NO GASTADO - [Actual]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Lote : BT - 0001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01599" y="3101975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6" y="0"/>
                </a:lnTo>
                <a:lnTo>
                  <a:pt x="12606136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1843330">
            <a:off x="15012624" y="-5748641"/>
            <a:ext cx="7249418" cy="724941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8688905">
            <a:off x="-1040029" y="3860500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144000" y="8210606"/>
            <a:ext cx="1047694" cy="104769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0820344" y="2305940"/>
            <a:ext cx="6459757" cy="3941608"/>
          </a:xfrm>
          <a:custGeom>
            <a:avLst/>
            <a:gdLst/>
            <a:ahLst/>
            <a:cxnLst/>
            <a:rect r="r" b="b" t="t" l="l"/>
            <a:pathLst>
              <a:path h="3941608" w="6459757">
                <a:moveTo>
                  <a:pt x="0" y="0"/>
                </a:moveTo>
                <a:lnTo>
                  <a:pt x="6459757" y="0"/>
                </a:lnTo>
                <a:lnTo>
                  <a:pt x="6459757" y="3941608"/>
                </a:lnTo>
                <a:lnTo>
                  <a:pt x="0" y="394160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3927" t="0" r="-53927" b="-40516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770074" y="1028700"/>
            <a:ext cx="2202411" cy="2202411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776685" y="2357751"/>
            <a:ext cx="390172" cy="390172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520167" y="779506"/>
            <a:ext cx="1244451" cy="1244451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929719" y="2747923"/>
            <a:ext cx="7573605" cy="3907203"/>
          </a:xfrm>
          <a:custGeom>
            <a:avLst/>
            <a:gdLst/>
            <a:ahLst/>
            <a:cxnLst/>
            <a:rect r="r" b="b" t="t" l="l"/>
            <a:pathLst>
              <a:path h="3907203" w="7573605">
                <a:moveTo>
                  <a:pt x="0" y="0"/>
                </a:moveTo>
                <a:lnTo>
                  <a:pt x="7573604" y="0"/>
                </a:lnTo>
                <a:lnTo>
                  <a:pt x="7573604" y="3907204"/>
                </a:lnTo>
                <a:lnTo>
                  <a:pt x="0" y="390720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089223" y="5750839"/>
            <a:ext cx="3921998" cy="3921998"/>
          </a:xfrm>
          <a:custGeom>
            <a:avLst/>
            <a:gdLst/>
            <a:ahLst/>
            <a:cxnLst/>
            <a:rect r="r" b="b" t="t" l="l"/>
            <a:pathLst>
              <a:path h="3921998" w="3921998">
                <a:moveTo>
                  <a:pt x="0" y="0"/>
                </a:moveTo>
                <a:lnTo>
                  <a:pt x="3921998" y="0"/>
                </a:lnTo>
                <a:lnTo>
                  <a:pt x="3921998" y="3921998"/>
                </a:lnTo>
                <a:lnTo>
                  <a:pt x="0" y="392199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804077" y="7073765"/>
            <a:ext cx="9362780" cy="107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“Lote: 50.000 Merlot 2026 Gran Reserva”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80adad0857fd396c8f8cc150ff6ca17ed904f837a07774b7961364614912e801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112706" y="2437983"/>
            <a:ext cx="4726351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FIRMA DIGITAL DEL CERTIFICADO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112706" y="3486036"/>
            <a:ext cx="5802731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Viña Winechain [EMISOR]: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Firma con llave privada de la viña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112706" y="4791989"/>
            <a:ext cx="5692626" cy="720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Distribuidor Mayorista [VERIFICADOR]:</a:t>
            </a: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F2F1F2"/>
                </a:solidFill>
                <a:latin typeface="Poppins"/>
                <a:ea typeface="Poppins"/>
                <a:cs typeface="Poppins"/>
                <a:sym typeface="Poppins"/>
              </a:rPr>
              <a:t>Verifica con la llave pública.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28700" y="766657"/>
            <a:ext cx="8115300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9"/>
              </a:lnSpc>
            </a:pPr>
            <a:r>
              <a:rPr lang="en-US" sz="81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VIÑA A LA MESA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143500"/>
            <a:ext cx="5179303" cy="3962167"/>
          </a:xfrm>
          <a:custGeom>
            <a:avLst/>
            <a:gdLst/>
            <a:ahLst/>
            <a:cxnLst/>
            <a:rect r="r" b="b" t="t" l="l"/>
            <a:pathLst>
              <a:path h="3962167" w="5179303">
                <a:moveTo>
                  <a:pt x="0" y="0"/>
                </a:moveTo>
                <a:lnTo>
                  <a:pt x="5179303" y="0"/>
                </a:lnTo>
                <a:lnTo>
                  <a:pt x="5179303" y="3962167"/>
                </a:lnTo>
                <a:lnTo>
                  <a:pt x="0" y="396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263044" y="549149"/>
            <a:ext cx="5246370" cy="524637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l="-16206" t="0" r="-16206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552170" y="5143500"/>
            <a:ext cx="5179303" cy="3962167"/>
          </a:xfrm>
          <a:custGeom>
            <a:avLst/>
            <a:gdLst/>
            <a:ahLst/>
            <a:cxnLst/>
            <a:rect r="r" b="b" t="t" l="l"/>
            <a:pathLst>
              <a:path h="3962167" w="5179303">
                <a:moveTo>
                  <a:pt x="0" y="0"/>
                </a:moveTo>
                <a:lnTo>
                  <a:pt x="5179303" y="0"/>
                </a:lnTo>
                <a:lnTo>
                  <a:pt x="5179303" y="3962167"/>
                </a:lnTo>
                <a:lnTo>
                  <a:pt x="0" y="396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22897" y="-3260495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33536" y="1957425"/>
            <a:ext cx="1084646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99"/>
              </a:lnSpc>
            </a:pPr>
            <a:r>
              <a:rPr lang="en-US" sz="84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EN RESUMEN. . . 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8688905">
            <a:off x="36125" y="-10090945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1843330">
            <a:off x="15101256" y="945130"/>
            <a:ext cx="7249418" cy="724941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669649" y="-1711462"/>
            <a:ext cx="2451605" cy="2451605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2079997" y="5086342"/>
            <a:ext cx="5179303" cy="3962167"/>
          </a:xfrm>
          <a:custGeom>
            <a:avLst/>
            <a:gdLst/>
            <a:ahLst/>
            <a:cxnLst/>
            <a:rect r="r" b="b" t="t" l="l"/>
            <a:pathLst>
              <a:path h="3962167" w="5179303">
                <a:moveTo>
                  <a:pt x="0" y="0"/>
                </a:moveTo>
                <a:lnTo>
                  <a:pt x="5179303" y="0"/>
                </a:lnTo>
                <a:lnTo>
                  <a:pt x="5179303" y="3962167"/>
                </a:lnTo>
                <a:lnTo>
                  <a:pt x="0" y="39621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32760" y="5852677"/>
            <a:ext cx="257118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 strike="noStrike" u="none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01 - NEED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206390" y="5852677"/>
            <a:ext cx="387086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03 - APPROACH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9636" y="6934068"/>
            <a:ext cx="4147210" cy="1311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468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CONFIANZA ROTA ENTRE VIÑA, NAVIERA Y DISTRIBUIDOR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206390" y="7000751"/>
            <a:ext cx="3870863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RED P2P PERMISIONADA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        + MODELO UTXO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34217" y="5795519"/>
            <a:ext cx="3870863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759"/>
              </a:lnSpc>
              <a:spcBef>
                <a:spcPct val="0"/>
              </a:spcBef>
            </a:pPr>
            <a:r>
              <a:rPr lang="en-US" sz="4800">
                <a:solidFill>
                  <a:srgbClr val="F2F1F2"/>
                </a:solidFill>
                <a:latin typeface="Norwester"/>
                <a:ea typeface="Norwester"/>
                <a:cs typeface="Norwester"/>
                <a:sym typeface="Norwester"/>
              </a:rPr>
              <a:t>04 - BENEFIT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34217" y="6943593"/>
            <a:ext cx="3870863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HASH Y FIRMA DIGITAL :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FFBC21"/>
                </a:solidFill>
                <a:latin typeface="Poppins Bold"/>
                <a:ea typeface="Poppins Bold"/>
                <a:cs typeface="Poppins Bold"/>
                <a:sym typeface="Poppins Bold"/>
              </a:rPr>
              <a:t>INTEGRIDAD DE PUNTA A PUNTA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0000">
                <a:alpha val="100000"/>
              </a:srgbClr>
            </a:gs>
            <a:gs pos="100000">
              <a:srgbClr val="3A0258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96136" y="-6001265"/>
            <a:ext cx="12606135" cy="12798107"/>
          </a:xfrm>
          <a:custGeom>
            <a:avLst/>
            <a:gdLst/>
            <a:ahLst/>
            <a:cxnLst/>
            <a:rect r="r" b="b" t="t" l="l"/>
            <a:pathLst>
              <a:path h="12798107" w="12606135">
                <a:moveTo>
                  <a:pt x="0" y="0"/>
                </a:moveTo>
                <a:lnTo>
                  <a:pt x="12606135" y="0"/>
                </a:lnTo>
                <a:lnTo>
                  <a:pt x="12606135" y="12798107"/>
                </a:lnTo>
                <a:lnTo>
                  <a:pt x="0" y="127981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9066000">
            <a:off x="12678446" y="-5164796"/>
            <a:ext cx="10510122" cy="12017291"/>
          </a:xfrm>
          <a:custGeom>
            <a:avLst/>
            <a:gdLst/>
            <a:ahLst/>
            <a:cxnLst/>
            <a:rect r="r" b="b" t="t" l="l"/>
            <a:pathLst>
              <a:path h="12017291" w="10510122">
                <a:moveTo>
                  <a:pt x="0" y="0"/>
                </a:moveTo>
                <a:lnTo>
                  <a:pt x="10510122" y="0"/>
                </a:lnTo>
                <a:lnTo>
                  <a:pt x="10510122" y="12017291"/>
                </a:lnTo>
                <a:lnTo>
                  <a:pt x="0" y="120172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885729" y="-843850"/>
            <a:ext cx="8516542" cy="1687699"/>
            <a:chOff x="0" y="0"/>
            <a:chExt cx="2243040" cy="44449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43040" cy="444497"/>
            </a:xfrm>
            <a:custGeom>
              <a:avLst/>
              <a:gdLst/>
              <a:ahLst/>
              <a:cxnLst/>
              <a:rect r="r" b="b" t="t" l="l"/>
              <a:pathLst>
                <a:path h="444497" w="2243040">
                  <a:moveTo>
                    <a:pt x="90904" y="0"/>
                  </a:moveTo>
                  <a:lnTo>
                    <a:pt x="2152135" y="0"/>
                  </a:lnTo>
                  <a:cubicBezTo>
                    <a:pt x="2202341" y="0"/>
                    <a:pt x="2243040" y="40699"/>
                    <a:pt x="2243040" y="90904"/>
                  </a:cubicBezTo>
                  <a:lnTo>
                    <a:pt x="2243040" y="353592"/>
                  </a:lnTo>
                  <a:cubicBezTo>
                    <a:pt x="2243040" y="403798"/>
                    <a:pt x="2202341" y="444497"/>
                    <a:pt x="2152135" y="444497"/>
                  </a:cubicBezTo>
                  <a:lnTo>
                    <a:pt x="90904" y="444497"/>
                  </a:lnTo>
                  <a:cubicBezTo>
                    <a:pt x="40699" y="444497"/>
                    <a:pt x="0" y="403798"/>
                    <a:pt x="0" y="353592"/>
                  </a:cubicBezTo>
                  <a:lnTo>
                    <a:pt x="0" y="90904"/>
                  </a:lnTo>
                  <a:cubicBezTo>
                    <a:pt x="0" y="40699"/>
                    <a:pt x="40699" y="0"/>
                    <a:pt x="90904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43040" cy="4825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154783" y="-1456314"/>
            <a:ext cx="2912628" cy="2912628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8D20EA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5400000">
            <a:off x="-2567639" y="3493597"/>
            <a:ext cx="7969741" cy="7969741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8D20EA">
                    <a:alpha val="100000"/>
                  </a:srgbClr>
                </a:gs>
                <a:gs pos="100000">
                  <a:srgbClr val="3202D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57845" y="1456314"/>
            <a:ext cx="1047694" cy="1047694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22197" y="9103011"/>
            <a:ext cx="3997445" cy="3997445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BBB22">
                    <a:alpha val="100000"/>
                  </a:srgbClr>
                </a:gs>
                <a:gs pos="100000">
                  <a:srgbClr val="F3693A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5402103" y="2732851"/>
            <a:ext cx="11833693" cy="4881398"/>
          </a:xfrm>
          <a:custGeom>
            <a:avLst/>
            <a:gdLst/>
            <a:ahLst/>
            <a:cxnLst/>
            <a:rect r="r" b="b" t="t" l="l"/>
            <a:pathLst>
              <a:path h="4881398" w="11833693">
                <a:moveTo>
                  <a:pt x="0" y="0"/>
                </a:moveTo>
                <a:lnTo>
                  <a:pt x="11833693" y="0"/>
                </a:lnTo>
                <a:lnTo>
                  <a:pt x="11833693" y="4881398"/>
                </a:lnTo>
                <a:lnTo>
                  <a:pt x="0" y="48813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658392" y="8947722"/>
            <a:ext cx="3600908" cy="310578"/>
          </a:xfrm>
          <a:custGeom>
            <a:avLst/>
            <a:gdLst/>
            <a:ahLst/>
            <a:cxnLst/>
            <a:rect r="r" b="b" t="t" l="l"/>
            <a:pathLst>
              <a:path h="310578" w="3600908">
                <a:moveTo>
                  <a:pt x="0" y="0"/>
                </a:moveTo>
                <a:lnTo>
                  <a:pt x="3600908" y="0"/>
                </a:lnTo>
                <a:lnTo>
                  <a:pt x="3600908" y="310578"/>
                </a:lnTo>
                <a:lnTo>
                  <a:pt x="0" y="31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325173" y="1719106"/>
            <a:ext cx="7121112" cy="7121112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9"/>
              <a:stretch>
                <a:fillRect l="-16176" t="0" r="-16176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8563204" y="3128963"/>
            <a:ext cx="8541370" cy="413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99"/>
              </a:lnSpc>
            </a:pPr>
            <a:r>
              <a:rPr lang="en-US" sz="9999">
                <a:solidFill>
                  <a:srgbClr val="FFBC21"/>
                </a:solidFill>
                <a:latin typeface="Norwester"/>
                <a:ea typeface="Norwester"/>
                <a:cs typeface="Norwester"/>
                <a:sym typeface="Norwester"/>
              </a:rPr>
              <a:t>MUCHAS GRACIAS POR SU ATENCION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DAHUdc7RUFQ</dc:identifier>
  <dcterms:modified xsi:type="dcterms:W3CDTF">2011-08-01T06:04:30Z</dcterms:modified>
  <cp:revision>1</cp:revision>
  <dc:title>Ev.1 Fundamentos de Blockchain</dc:title>
</cp:coreProperties>
</file>